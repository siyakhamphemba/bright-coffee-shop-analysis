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8C3B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24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Not Provided</c:v>
                  </c:pt>
                  <c:pt idx="1">
                    <c:v>Tea</c:v>
                  </c:pt>
                  <c:pt idx="2">
                    <c:v>Coffee</c:v>
                  </c:pt>
                  <c:pt idx="3">
                    <c:v>Coffee Beans</c:v>
                  </c:pt>
                  <c:pt idx="4">
                    <c:v>Branded</c:v>
                  </c:pt>
                  <c:pt idx="5">
                    <c:v>Bakery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395746</c:v>
                </c:pt>
                <c:pt idx="1">
                  <c:v>93545</c:v>
                </c:pt>
                <c:pt idx="2">
                  <c:v>87569</c:v>
                </c:pt>
                <c:pt idx="3">
                  <c:v>27659</c:v>
                </c:pt>
                <c:pt idx="4">
                  <c:v>13607</c:v>
                </c:pt>
                <c:pt idx="5">
                  <c:v>5460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B24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2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D8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24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Tea</c:v>
                  </c:pt>
                  <c:pt idx="1">
                    <c:v>Coffee</c:v>
                  </c:pt>
                  <c:pt idx="2">
                    <c:v>Coffee Beans</c:v>
                  </c:pt>
                  <c:pt idx="3">
                    <c:v>Branded</c:v>
                  </c:pt>
                  <c:pt idx="4">
                    <c:v>Bakery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93545</c:v>
                </c:pt>
                <c:pt idx="1">
                  <c:v>87569</c:v>
                </c:pt>
                <c:pt idx="2">
                  <c:v>27659</c:v>
                </c:pt>
                <c:pt idx="3">
                  <c:v>13607</c:v>
                </c:pt>
                <c:pt idx="4">
                  <c:v>5460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B24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D8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85042"/>
            </a:solidFill>
            <a:ln w="3175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6:00</c:v>
                  </c:pt>
                  <c:pt idx="1">
                    <c:v>6:30</c:v>
                  </c:pt>
                  <c:pt idx="2">
                    <c:v>7:00</c:v>
                  </c:pt>
                  <c:pt idx="3">
                    <c:v>7:30</c:v>
                  </c:pt>
                  <c:pt idx="4">
                    <c:v>8:00</c:v>
                  </c:pt>
                  <c:pt idx="5">
                    <c:v>8:30</c:v>
                  </c:pt>
                  <c:pt idx="6">
                    <c:v>9:00</c:v>
                  </c:pt>
                  <c:pt idx="7">
                    <c:v>9:30</c:v>
                  </c:pt>
                  <c:pt idx="8">
                    <c:v>10:00</c:v>
                  </c:pt>
                  <c:pt idx="9">
                    <c:v>10:30</c:v>
                  </c:pt>
                  <c:pt idx="10">
                    <c:v>11:00</c:v>
                  </c:pt>
                  <c:pt idx="11">
                    <c:v>11:30</c:v>
                  </c:pt>
                  <c:pt idx="12">
                    <c:v>12:00</c:v>
                  </c:pt>
                  <c:pt idx="13">
                    <c:v>12:30</c:v>
                  </c:pt>
                  <c:pt idx="14">
                    <c:v>13:00</c:v>
                  </c:pt>
                  <c:pt idx="15">
                    <c:v>13:30</c:v>
                  </c:pt>
                  <c:pt idx="16">
                    <c:v>14:00</c:v>
                  </c:pt>
                  <c:pt idx="17">
                    <c:v>14:30</c:v>
                  </c:pt>
                  <c:pt idx="18">
                    <c:v>15:00</c:v>
                  </c:pt>
                  <c:pt idx="19">
                    <c:v>15:30</c:v>
                  </c:pt>
                  <c:pt idx="20">
                    <c:v>16:00</c:v>
                  </c:pt>
                  <c:pt idx="21">
                    <c:v>16:30</c:v>
                  </c:pt>
                  <c:pt idx="22">
                    <c:v>17:00</c:v>
                  </c:pt>
                  <c:pt idx="23">
                    <c:v>17:30</c:v>
                  </c:pt>
                  <c:pt idx="24">
                    <c:v>18:00</c:v>
                  </c:pt>
                  <c:pt idx="25">
                    <c:v>18:30</c:v>
                  </c:pt>
                  <c:pt idx="26">
                    <c:v>19:00</c:v>
                  </c:pt>
                  <c:pt idx="27">
                    <c:v>19:30</c:v>
                  </c:pt>
                  <c:pt idx="28">
                    <c:v>20:00</c:v>
                  </c:pt>
                  <c:pt idx="29">
                    <c:v>20:30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5828</c:v>
                </c:pt>
                <c:pt idx="1">
                  <c:v>13510</c:v>
                </c:pt>
                <c:pt idx="2">
                  <c:v>26499</c:v>
                </c:pt>
                <c:pt idx="3">
                  <c:v>29975</c:v>
                </c:pt>
                <c:pt idx="4">
                  <c:v>36860</c:v>
                </c:pt>
                <c:pt idx="5">
                  <c:v>36724</c:v>
                </c:pt>
                <c:pt idx="6">
                  <c:v>37811</c:v>
                </c:pt>
                <c:pt idx="7">
                  <c:v>38200</c:v>
                </c:pt>
                <c:pt idx="8">
                  <c:v>39002</c:v>
                </c:pt>
                <c:pt idx="9">
                  <c:v>40051</c:v>
                </c:pt>
                <c:pt idx="10">
                  <c:v>23050</c:v>
                </c:pt>
                <c:pt idx="11">
                  <c:v>18487</c:v>
                </c:pt>
                <c:pt idx="12">
                  <c:v>18443</c:v>
                </c:pt>
                <c:pt idx="13">
                  <c:v>17599</c:v>
                </c:pt>
                <c:pt idx="14">
                  <c:v>17939</c:v>
                </c:pt>
                <c:pt idx="15">
                  <c:v>18189</c:v>
                </c:pt>
                <c:pt idx="16">
                  <c:v>19254</c:v>
                </c:pt>
                <c:pt idx="17">
                  <c:v>17587</c:v>
                </c:pt>
                <c:pt idx="18">
                  <c:v>18199</c:v>
                </c:pt>
                <c:pt idx="19">
                  <c:v>19092</c:v>
                </c:pt>
                <c:pt idx="20">
                  <c:v>18742</c:v>
                </c:pt>
                <c:pt idx="21">
                  <c:v>17987</c:v>
                </c:pt>
                <c:pt idx="22">
                  <c:v>17377</c:v>
                </c:pt>
                <c:pt idx="23">
                  <c:v>18282</c:v>
                </c:pt>
                <c:pt idx="24">
                  <c:v>17473</c:v>
                </c:pt>
                <c:pt idx="25">
                  <c:v>13256</c:v>
                </c:pt>
                <c:pt idx="26">
                  <c:v>12922</c:v>
                </c:pt>
                <c:pt idx="27">
                  <c:v>12627</c:v>
                </c:pt>
                <c:pt idx="28">
                  <c:v>1181</c:v>
                </c:pt>
                <c:pt idx="29">
                  <c:v>1440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B85042"/>
            </a:solidFill>
            <a:ln w="38100" cap="flat">
              <a:solidFill>
                <a:srgbClr val="B85042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3B241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5042"/>
              </a:solidFill>
              <a:ln w="9525" cap="flat">
                <a:solidFill>
                  <a:srgbClr val="B8504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72970</c:v>
                </c:pt>
                <c:pt idx="1">
                  <c:v>67864</c:v>
                </c:pt>
                <c:pt idx="2">
                  <c:v>88143</c:v>
                </c:pt>
                <c:pt idx="3">
                  <c:v>106173</c:v>
                </c:pt>
                <c:pt idx="4">
                  <c:v>139748</c:v>
                </c:pt>
                <c:pt idx="5">
                  <c:v>148688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3B241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B241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Lower Manhattan</c:v>
                  </c:pt>
                  <c:pt idx="1">
                    <c:v>Hell's Kitchen</c:v>
                  </c:pt>
                  <c:pt idx="2">
                    <c:v>Astoria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71742</c:v>
                </c:pt>
                <c:pt idx="1">
                  <c:v>71737</c:v>
                </c:pt>
                <c:pt idx="2">
                  <c:v>70991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B241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70500"/>
        </c:scaling>
        <c:delete val="0"/>
        <c:axPos val="l"/>
        <c:majorGridlines>
          <c:spPr>
            <a:ln w="6350" cap="flat">
              <a:solidFill>
                <a:srgbClr val="E0D8C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A6A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49240" y="10515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☕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4028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BRIGHT COFFEE SHOP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2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Source Data — July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8C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Siyakha Ntuli  |  Junior Data Analyst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Performance (January – June 2023, from retail.default.coffee_sales_cleaned)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184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$623,586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6184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149,116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5196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46720" y="15087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16184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$4.18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046720" y="24963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Transaction Value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186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214,470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57200" y="4096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32186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251960" y="4096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Units / Transaction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10896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218688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103.8%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046720" y="409651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(Jan–Jun)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892040"/>
            <a:ext cx="11247120" cy="822960"/>
          </a:xfrm>
          <a:prstGeom prst="roundRect">
            <a:avLst>
              <a:gd name="adj" fmla="val 8889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489204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Insight:  Revenue grew 103.8% from January to June (119% if measured from February's low point).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Alert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trusting category-level insights, one issue needs flagging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7276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63.5%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($395,746) is logged as 'Not Provided' for product category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0624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0" y="157276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0624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transaction rows have no product category / type recorded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55280" y="1463040"/>
            <a:ext cx="3566160" cy="1737360"/>
          </a:xfrm>
          <a:prstGeom prst="roundRect">
            <a:avLst>
              <a:gd name="adj" fmla="val 4211"/>
            </a:avLst>
          </a:prstGeom>
          <a:solidFill>
            <a:srgbClr val="E7E8D1"/>
          </a:solidFill>
          <a:ln w="12700">
            <a:solidFill>
              <a:srgbClr val="E7E8D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1572768"/>
            <a:ext cx="3566160" cy="12344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$227,840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55280" y="28163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revenue we can actually attribute to a known category (36.5%)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112471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03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means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11480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two-thirds of revenue can't be tied to a specific category or product type — likely a POS or data-pipeline gap, not a business fact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category/product ranking in this deck is shown two ways: full totals (including 'Not Provided') and a clean view of known categories only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work with data engineering to identify why category fields are blank and enforce mandatory selection at checkout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Product Category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View (All Revenue)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09360" y="960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Categories Only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309360" y="132588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074920"/>
            <a:ext cx="112471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'Not Provided' ($395,746 / 63.5%) dwarfs every real category — see Data Quality slide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among known categories, Tea ($93.5K, 41%) edges out Coffee ($87.6K, 38%); Bakery is just Scones ($5.5K, 2%)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Performing Product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categories only — 'Not Provided' ($395,746) excluded, see note below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9494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0233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Product Type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Gourmet Brewed Coffee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$34,120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Brewed Chai Tea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$29,906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Brewed Black Tea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$25,662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Brewed Herbal Tea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$25,317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Drip Coffee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$20,959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Barista Espresso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$19,335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Organic Brewed Coffee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$13,155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Brewed Green Tea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$12,660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Premium Beans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$11,700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4173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80960" y="187452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dominates the top 3 individual product types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(Chai, Black, Herbal) performs strongly too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Gourmet Brewed Coffee is the #1 known product ($34,120)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3749040"/>
            <a:ext cx="4023360" cy="1645920"/>
          </a:xfrm>
          <a:prstGeom prst="roundRect">
            <a:avLst>
              <a:gd name="adj" fmla="val 4444"/>
            </a:avLst>
          </a:prstGeom>
          <a:solidFill>
            <a:srgbClr val="8C3B2E"/>
          </a:solidFill>
          <a:ln w="12700">
            <a:solidFill>
              <a:srgbClr val="8C3B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6384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Caveat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863840" y="42062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'Not Provided' alone totals $395,746 — more than all 9 known products above combined ($192.8K).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Bottom 10 Underperforming Products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Product Type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Green Beans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$1,340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House Blend Beans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$3,294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Organic Beans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$4,527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Scone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$5,460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Clothing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$6,163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Gourmet Beans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$6,798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Housewares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$7,444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Premium Beans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$11,700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Brewed Green Tea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$12,660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Organic Brewed Coffee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B2419"/>
                          </a:solidFill>
                        </a:rPr>
                        <a:t>$13,155</a:t>
                      </a:r>
                      <a:endParaRPr lang="en-US" sz="13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583680" y="10515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583680" y="1508760"/>
            <a:ext cx="51206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Coffee beans (Green, House Blend, Organic, Gourmet) fill 4 of the bottom 10 slots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Bakery's only product, Scone, sits at exactly $5,460 — its full category total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Housewares (non-coffee retail items) underperform too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583680" y="37033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3B2419"/>
          </a:solidFill>
          <a:ln w="12700">
            <a:solidFill>
              <a:srgbClr val="3B241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3840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E8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66560" y="41605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bean SKUs with top sellers, promote or discontinue Clothing/Housewares, and confirm whether Scone should be split into more bakery SKUs.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Time of 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buckets, aggregated across Jan–Jun 2023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325880"/>
          <a:ext cx="41148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18872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 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10:30 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$40,051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6.4%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10:00 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$39,002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6.3%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9:30 AM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$38,200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6.1%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Low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8:00 PM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$1,181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B2419"/>
                          </a:solidFill>
                        </a:rPr>
                        <a:t>0.2%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7589520" y="30632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 (7–10:30 AM) drives the bulk of daily revenue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falloff after 6 PM; near-zero after 8 PM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staff 8–11 AM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evening promos or reduced hours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Trend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– June 2023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70408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680960" y="1325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Month-over-Month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1737360"/>
          <a:ext cx="402336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37160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Change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Jan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$72,970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Feb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$67,864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-7.0%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Mar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$88,143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+29.9%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Apr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$106,173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+20.5%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May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$139,748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+31.6%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Jun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$148,688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3B2419"/>
                          </a:solidFill>
                        </a:rPr>
                        <a:t>+6.4%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D8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8D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7680960" y="44805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was the low point, not January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Growth: +103.8% Jan→Jun, or +119% from Feb's low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month: May (+31.6%)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sold by location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258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589520" y="173736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 leads narrowly at 71,742 units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 close behind at 71,737 (5-unit gap)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Astoria trails at 70,991 — under 1.1% behind the leader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589520" y="3749040"/>
            <a:ext cx="4114800" cy="1554480"/>
          </a:xfrm>
          <a:prstGeom prst="roundRect">
            <a:avLst>
              <a:gd name="adj" fmla="val 4706"/>
            </a:avLst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0" y="38404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41605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perform very evenly — treat as a mature, balanced network rather than a gap to close.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 Summary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0972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Performance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Revenue: $623,586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103.8% Growth Jan→Jun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Transaction: $4.18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51960" y="10515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51960" y="1051560"/>
            <a:ext cx="109728" cy="2286000"/>
          </a:xfrm>
          <a:prstGeom prst="rect">
            <a:avLst/>
          </a:prstGeom>
          <a:solidFill>
            <a:srgbClr val="8C3B2E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26280" y="16459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63.5% of revenue is 'Not Provided'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70.5% of rows missing category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0515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1051560"/>
            <a:ext cx="10972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 (known)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321040" y="16459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($93.5K) &gt; Coffee ($87.6K)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Bakery = Scones only ($5.5K)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566160"/>
            <a:ext cx="10972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160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Top: Gourmet Brewed Coffee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Green Beans, Clothing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51960" y="3566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51960" y="3566160"/>
            <a:ext cx="10972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Performance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26280" y="4160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 10:30 AM ($40,051)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Slowest: 8:00 PM ($1,181)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56616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0" y="3566160"/>
            <a:ext cx="109728" cy="22860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8321040" y="3703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Performance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321040" y="41605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Manhattan: 71,742 units</a:t>
            </a:r>
            <a:endParaRPr lang="en-US" sz="110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Hell's Kitchen &amp; Astoria close behind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25400">
            <a:solidFill>
              <a:srgbClr val="8C3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8C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(Priority)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why 70.5% of rows lack category/type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mandatory product hierarchy at POS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analysis once fixed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3756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234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20440" y="22402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staff 8–11 AM (morning rush)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staff after 6 PM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near-zero post 8 PM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34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2402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more Gourmet Coffee &amp; Chai Tea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low-selling bean SKUs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Clothing/Housewares viability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105156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81160" y="123444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9281160" y="1234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281160" y="173736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81160" y="2240280"/>
            <a:ext cx="2331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promos to lift post-6 PM sales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double-points, slow hours</a:t>
            </a:r>
            <a:endParaRPr lang="en-US" sz="1050" dirty="0"/>
          </a:p>
          <a:p>
            <a:pPr marL="177800" indent="-1778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Bakery SKU range (Scone only?)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24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9050">
            <a:solidFill>
              <a:srgbClr val="8C3B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43000"/>
            <a:ext cx="438912" cy="438912"/>
          </a:xfrm>
          <a:prstGeom prst="ellipse">
            <a:avLst/>
          </a:prstGeom>
          <a:solidFill>
            <a:srgbClr val="8C3B2E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051560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C3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29000" y="1051560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with data engineering on 'Not Provided' fields — highest priority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801368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92808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928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1801368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801368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schedules to match morning peak (8–11 AM)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51176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642616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6426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2551176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29000" y="2551176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stock of top known products (Gourmet Coffee, Chai Tea)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392424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9242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3300984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29000" y="3300984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slow-moving bean SKUs with top sellers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050792"/>
            <a:ext cx="1124712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0D8C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4142232"/>
            <a:ext cx="438912" cy="438912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1422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050792"/>
            <a:ext cx="2103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Re-Analysis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29000" y="4050792"/>
            <a:ext cx="80924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this report once category data is fixed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58064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A6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Week 1 Data Quality  →  Week 2 Staffing  →  Week 3 Inventory  →  Week 4 Bundling  →  Ongoing Re-Analysis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6A5C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B2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5176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time and attention!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2026-07-27T22:20:38Z</dcterms:created>
  <dcterms:modified xsi:type="dcterms:W3CDTF">2026-07-27T22:20:38Z</dcterms:modified>
</cp:coreProperties>
</file>